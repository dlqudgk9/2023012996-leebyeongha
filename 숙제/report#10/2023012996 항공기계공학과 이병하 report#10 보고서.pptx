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A6A2B-0E08-45B8-B9C5-7C3EDB6F1B39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0EA43-D1D5-4685-A814-A9EB7400A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67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0EA43-D1D5-4685-A814-A9EB7400AC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1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22E59-BB7A-4DDB-998F-81E61CEC6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9B4B-C649-C5B7-65BA-F7B56C40D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23DCE-8D8B-C69A-1936-1A53F74F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01F19-FC3E-DE8A-3EE2-2ACD9D28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91C61-620B-2A5B-0430-CBC319D0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3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019B4-F564-CF34-3F69-7EBE23D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F17CD3-8955-F20D-2CD0-3CCAA748F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3FD2C-A2E9-09C5-62CD-1AA8CD11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9D0E9-4050-12C0-3C5E-4603A8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45E9-C834-99E7-B809-EC1944D6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5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2F1DD-C17C-5691-2682-0D3ACF0F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44C7A-4619-CC9B-9CC5-A9582BE5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7722-2F79-BDD8-2F92-453246B0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79D18-06F0-5E98-A424-2C230126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9D6F6-DD01-32E5-D5A2-FF4CCF92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1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1F154-4D51-29F5-D48B-D4817DE2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CDA6F-AE43-B741-AA5A-FAD68167B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3FEA51-FBD2-3C37-2488-7B306F6A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A5D9C0-DB2B-4F1D-440A-35198422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47A9E-116B-69B9-7FEE-1605131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3882-D832-EA8C-53F9-D127E190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0F918-E26D-13EC-06EB-CCF62C4C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5EEC0-2BAD-26D1-1A59-3D68E05D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874FC0-4D1B-692D-C2A5-C53BF2697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80EAC-D746-CAFC-EEBD-4286C8AAC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9AF037-4B83-299A-7D70-15A798B14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5E5731-6A66-51EC-ACE8-2B997B1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F50CF1-855C-725C-5E2E-9D88A22E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41D5B9-4E60-93D9-80BB-54C8A583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8BD7B-7E7C-3849-B8E7-CEF14A2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5A8FAC-73ED-7030-8400-0624F805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B3F172-BCF3-DF8E-924A-00B33C79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B7A5A-82FE-AF3E-3DB6-FC777C2A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1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79F73-0FAB-D1F3-2FE0-9DC1F9E9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DCEB78-F420-6E72-88C3-43B97527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220E-52C6-0282-E0DB-3F46EA5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5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F08C6-5311-D31E-95E8-3FDE9B1B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288DA-CE6C-F8A2-F8DB-40B414C3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8D2E0E-2062-E585-D99C-C60165A0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69A4F-FF58-2BB0-2D12-AC2E9DC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0AC22-789A-921E-F2CA-3517CC59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72F39-A1B8-2EB0-6C55-466E905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54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E5F95-EC95-934A-07B3-729E7258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5059CA-5BE7-046A-0E6C-70831C3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79275-578B-D3C9-24D5-F802BFB3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7C24E-9306-9768-139D-2B2D9BDF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B224-F4BA-622F-F0A8-F035565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410E4B-1454-0316-071B-F7BC324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9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E2FB8-C062-46F2-2C2B-A490EFC3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5CF7E-971C-288D-6099-72E48DFAF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E805B-610B-2A23-F3D5-02418EF5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57E12-2D03-F486-E09E-D916CE35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860BB-2A1D-1CF2-D084-4B985716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3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3F7243-EC2D-100F-D36D-8AF2C0276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DFC7BA-5270-28F9-3355-BF081B27D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85273-D861-05E6-CD52-47206766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E3C95-8EC0-ABC9-F6A2-35AB39FD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F96A1-D465-46AA-6B8A-7A5A0822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5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08F63B-CA42-1837-8B94-80CA0501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55C9E-16FE-DA52-970F-97679FF4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A4EC1-FB59-155A-B051-FB0532896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741E5-4729-4AC2-B225-1E536E5A70A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5AD7C-B799-E963-8500-75CB2BBEE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06274-6E44-40EA-45FE-8C8763155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D8CA5-74A9-73FC-7461-6B9EB0810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공력형상 최적설계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E01C9E-FEC2-2EFF-58DC-7B0675026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전산유체실습</a:t>
            </a:r>
            <a:r>
              <a:rPr lang="en-US" altLang="ko-KR" dirty="0"/>
              <a:t> report#10 </a:t>
            </a:r>
          </a:p>
          <a:p>
            <a:r>
              <a:rPr lang="en-US" altLang="ko-KR" dirty="0"/>
              <a:t>2023012996 </a:t>
            </a:r>
            <a:r>
              <a:rPr lang="ko-KR" altLang="en-US" dirty="0"/>
              <a:t>항공기계공학과 이병하</a:t>
            </a:r>
          </a:p>
        </p:txBody>
      </p:sp>
    </p:spTree>
    <p:extLst>
      <p:ext uri="{BB962C8B-B14F-4D97-AF65-F5344CB8AC3E}">
        <p14:creationId xmlns:p14="http://schemas.microsoft.com/office/powerpoint/2010/main" val="26886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A8EA1-84A0-9F78-E677-8E74E978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공력 성능 목적함수 설정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72E3AC-0225-3B56-EB63-CEB3EEFD3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형상 최적화 문제에서 목적함수는 설계 방향을 결정하는 핵심 변수로</a:t>
            </a:r>
            <a:r>
              <a:rPr lang="en-US" altLang="ko-KR" b="1" dirty="0"/>
              <a:t>, </a:t>
            </a:r>
            <a:r>
              <a:rPr lang="ko-KR" altLang="en-US" b="1" dirty="0"/>
              <a:t>본 연구에서는 공력 성능 개선을 위해 </a:t>
            </a:r>
            <a:r>
              <a:rPr lang="en-US" altLang="ko-KR" b="1" dirty="0">
                <a:solidFill>
                  <a:srgbClr val="FF0000"/>
                </a:solidFill>
              </a:rPr>
              <a:t>DRAG(</a:t>
            </a:r>
            <a:r>
              <a:rPr lang="ko-KR" altLang="en-US" b="1" dirty="0">
                <a:solidFill>
                  <a:srgbClr val="FF0000"/>
                </a:solidFill>
              </a:rPr>
              <a:t>항력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/>
              <a:t>을 최적화 목표로 선정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AD8DD6A9-88F6-7DF1-B654-2711CA673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7928" y="1304909"/>
            <a:ext cx="6162720" cy="423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AC8E4-007A-CA7C-2EC3-D241BB72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입력 값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C85FDEA-D65B-9020-D8CD-16D49DA8F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64257"/>
            <a:ext cx="6172200" cy="399690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990DD-6004-5955-B264-48F0C2FF7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pPr algn="ctr"/>
            <a:r>
              <a:rPr lang="ko-KR" altLang="en-US" b="1" dirty="0"/>
              <a:t>해석 대상</a:t>
            </a:r>
            <a:r>
              <a:rPr lang="en-US" altLang="ko-KR" b="1" dirty="0"/>
              <a:t>: NACA0012 2D airfoil</a:t>
            </a:r>
          </a:p>
          <a:p>
            <a:endParaRPr lang="en-US" altLang="ko-KR" dirty="0"/>
          </a:p>
          <a:p>
            <a:pPr algn="ctr"/>
            <a:r>
              <a:rPr lang="en-US" altLang="ko-KR" b="1" dirty="0"/>
              <a:t>&lt;</a:t>
            </a:r>
            <a:r>
              <a:rPr lang="ko-KR" altLang="en-US" b="1" dirty="0"/>
              <a:t>조건 값</a:t>
            </a:r>
            <a:r>
              <a:rPr lang="en-US" altLang="ko-KR" b="1" dirty="0"/>
              <a:t>&gt;</a:t>
            </a:r>
          </a:p>
          <a:p>
            <a:pPr algn="ctr"/>
            <a:r>
              <a:rPr lang="ko-KR" altLang="en-US" b="1" dirty="0" err="1"/>
              <a:t>마하수</a:t>
            </a:r>
            <a:r>
              <a:rPr lang="ko-KR" altLang="en-US" b="1" dirty="0"/>
              <a:t> 값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ym typeface="Wingdings" panose="05000000000000000000" pitchFamily="2" charset="2"/>
              </a:rPr>
              <a:t>0.8</a:t>
            </a:r>
          </a:p>
          <a:p>
            <a:pPr algn="ctr"/>
            <a:endParaRPr lang="en-US" altLang="ko-KR" dirty="0">
              <a:sym typeface="Wingdings" panose="05000000000000000000" pitchFamily="2" charset="2"/>
            </a:endParaRPr>
          </a:p>
          <a:p>
            <a:pPr algn="ctr"/>
            <a:r>
              <a:rPr lang="ko-KR" altLang="en-US" b="1" dirty="0">
                <a:sym typeface="Wingdings" panose="05000000000000000000" pitchFamily="2" charset="2"/>
              </a:rPr>
              <a:t>압력 값</a:t>
            </a:r>
            <a:r>
              <a:rPr lang="en-US" altLang="ko-KR" b="1" dirty="0">
                <a:sym typeface="Wingdings" panose="05000000000000000000" pitchFamily="2" charset="2"/>
              </a:rPr>
              <a:t> 101,325Pa</a:t>
            </a:r>
          </a:p>
          <a:p>
            <a:pPr algn="ctr"/>
            <a:endParaRPr lang="en-US" altLang="ko-KR" b="1" dirty="0">
              <a:sym typeface="Wingdings" panose="05000000000000000000" pitchFamily="2" charset="2"/>
            </a:endParaRPr>
          </a:p>
          <a:p>
            <a:pPr algn="ctr"/>
            <a:r>
              <a:rPr lang="ko-KR" altLang="en-US" b="1" dirty="0">
                <a:sym typeface="Wingdings" panose="05000000000000000000" pitchFamily="2" charset="2"/>
              </a:rPr>
              <a:t>온도 값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ym typeface="Wingdings" panose="05000000000000000000" pitchFamily="2" charset="2"/>
              </a:rPr>
              <a:t>273.15K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98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75639-664C-0707-D508-B6AEA2F4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naca0012 Pressure </a:t>
            </a:r>
            <a:r>
              <a:rPr lang="ko-KR" altLang="en-US" dirty="0"/>
              <a:t>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4CB78-828D-0A38-937D-6CB2575C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Design_001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6D7A032-0973-F34E-8D8E-96DDFC6FED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917843"/>
            <a:ext cx="5157787" cy="2859052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C63135-D47B-77C3-68BC-EAD6D8C30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Design_032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F908EE9-14DB-7814-2ED4-843DB5DC5A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893959"/>
            <a:ext cx="5183188" cy="290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1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B93B3-EBAD-F5E1-4D10-E8C877EC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naca0012 Pressure </a:t>
            </a:r>
            <a:r>
              <a:rPr lang="ko-KR" altLang="en-US" dirty="0"/>
              <a:t>유동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2EF226-1619-94A8-F8CC-D7AFD584C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Design_001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9FE0DE1-D2DF-3BB8-3B2D-2A453A8B7B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918103"/>
            <a:ext cx="5157787" cy="2858532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BF7FF8-5251-A0DF-C1DA-2D4AEB37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Design_032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5E3D1B0-F919-CE85-1569-A20128FF2A7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903309"/>
            <a:ext cx="5183188" cy="28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56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F611C-7516-34AA-2815-915F7F371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naca0012 X/C, Cp</a:t>
            </a:r>
            <a:r>
              <a:rPr lang="ko-KR" altLang="en-US" dirty="0"/>
              <a:t>값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71769F-051F-8396-3B5D-FCDFDFE42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Design_001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25A35F-2552-274B-C150-911463D74A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37427" y="2990046"/>
            <a:ext cx="4562508" cy="2714645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FC33B7-6236-F772-31E4-CA972C893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ko-KR" dirty="0"/>
              <a:t>Design_032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D4E6B6A-178C-A928-8D48-B33461767D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06352" y="2970996"/>
            <a:ext cx="4514883" cy="27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4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32EAB-046F-D434-006C-84720F4A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보고서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934BA6-0382-213B-B72C-DFC83108B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b="1" dirty="0"/>
          </a:p>
          <a:p>
            <a:r>
              <a:rPr lang="en-US" altLang="ko-KR" b="1" dirty="0"/>
              <a:t>Design 1</a:t>
            </a:r>
            <a:r>
              <a:rPr lang="ko-KR" altLang="en-US" b="1" dirty="0"/>
              <a:t>은 상부 표면의 </a:t>
            </a:r>
            <a:r>
              <a:rPr lang="en-US" altLang="ko-KR" b="1" i="1" dirty="0"/>
              <a:t>x/c=0.4~0.6</a:t>
            </a:r>
            <a:r>
              <a:rPr lang="ko-KR" altLang="en-US" b="1" dirty="0"/>
              <a:t> 구간에서 급격한 압력 회복이 발생하여</a:t>
            </a:r>
            <a:br>
              <a:rPr lang="ko-KR" altLang="en-US" b="1" dirty="0"/>
            </a:br>
            <a:r>
              <a:rPr lang="ko-KR" altLang="en-US" b="1" dirty="0" err="1"/>
              <a:t>천음속</a:t>
            </a:r>
            <a:r>
              <a:rPr lang="ko-KR" altLang="en-US" b="1" dirty="0"/>
              <a:t> 영역 특성인 </a:t>
            </a:r>
            <a:r>
              <a:rPr lang="en-US" altLang="ko-KR" b="1" dirty="0"/>
              <a:t>shock</a:t>
            </a:r>
            <a:r>
              <a:rPr lang="ko-KR" altLang="en-US" b="1" dirty="0"/>
              <a:t>에 의한 </a:t>
            </a:r>
            <a:r>
              <a:rPr lang="ko-KR" altLang="en-US" b="1" dirty="0" err="1"/>
              <a:t>파항력이</a:t>
            </a:r>
            <a:r>
              <a:rPr lang="ko-KR" altLang="en-US" b="1" dirty="0"/>
              <a:t> 크게 나타났다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r>
              <a:rPr lang="en-US" altLang="ko-KR" b="1" dirty="0"/>
              <a:t>Design 32</a:t>
            </a:r>
            <a:r>
              <a:rPr lang="ko-KR" altLang="en-US" b="1" dirty="0"/>
              <a:t>는 압력 분포가 더 부드럽고 연속적으로 변화하며</a:t>
            </a:r>
            <a:r>
              <a:rPr lang="en-US" altLang="ko-KR" b="1" dirty="0"/>
              <a:t>, shock </a:t>
            </a:r>
            <a:r>
              <a:rPr lang="ko-KR" altLang="en-US" b="1" dirty="0"/>
              <a:t>구간이 완화되어 항력이 효과적으로 감소된 형상으로 개선되었다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최적화 결과</a:t>
            </a:r>
            <a:r>
              <a:rPr lang="en-US" altLang="ko-KR" b="1" dirty="0"/>
              <a:t>, </a:t>
            </a:r>
            <a:r>
              <a:rPr lang="ko-KR" altLang="en-US" b="1" dirty="0"/>
              <a:t>전체 압력 분포 품질이 향상되며</a:t>
            </a:r>
            <a:r>
              <a:rPr lang="en-US" altLang="ko-KR" b="1" dirty="0"/>
              <a:t>, </a:t>
            </a:r>
            <a:r>
              <a:rPr lang="ko-KR" altLang="en-US" b="1" dirty="0" err="1"/>
              <a:t>천음속</a:t>
            </a:r>
            <a:r>
              <a:rPr lang="ko-KR" altLang="en-US" b="1" dirty="0"/>
              <a:t> 영역에서의 항력 저감 효과가 확인되었다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2A1BB49-3D22-B918-6335-86345BC2F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7645" y="1644770"/>
            <a:ext cx="5290868" cy="372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4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46421-01BE-88EB-31D5-48E02482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CD</a:t>
            </a:r>
            <a:r>
              <a:rPr lang="ko-KR" altLang="en-US" dirty="0"/>
              <a:t> 결과 값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5BC011A-9AE9-0B17-1A4A-8EE8F6993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3667" y="1600186"/>
            <a:ext cx="5791242" cy="3648102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2FEDB4-BD7B-2DBF-C1B7-CAF47E351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34340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ko-KR" altLang="en-US" b="1" dirty="0"/>
              <a:t>항력계수</a:t>
            </a:r>
            <a:r>
              <a:rPr lang="en-US" altLang="ko-KR" b="1" dirty="0"/>
              <a:t>(CD) </a:t>
            </a:r>
            <a:r>
              <a:rPr lang="ko-KR" altLang="en-US" b="1" dirty="0"/>
              <a:t>변화</a:t>
            </a:r>
            <a:endParaRPr lang="en-US" altLang="ko-KR" b="1" dirty="0"/>
          </a:p>
          <a:p>
            <a:r>
              <a:rPr lang="en-US" altLang="ko-KR" b="1" dirty="0"/>
              <a:t>=CD</a:t>
            </a:r>
            <a:r>
              <a:rPr lang="ko-KR" altLang="en-US" b="1" dirty="0"/>
              <a:t>가 </a:t>
            </a:r>
            <a:r>
              <a:rPr lang="en-US" altLang="ko-KR" b="1" dirty="0"/>
              <a:t>0.021</a:t>
            </a:r>
            <a:r>
              <a:rPr lang="en-US" altLang="ko-KR" b="1" dirty="0">
                <a:sym typeface="Wingdings" panose="05000000000000000000" pitchFamily="2" charset="2"/>
              </a:rPr>
              <a:t> 0.005</a:t>
            </a:r>
            <a:r>
              <a:rPr lang="ko-KR" altLang="en-US" b="1" dirty="0">
                <a:sym typeface="Wingdings" panose="05000000000000000000" pitchFamily="2" charset="2"/>
              </a:rPr>
              <a:t>로 감소</a:t>
            </a:r>
            <a:endParaRPr lang="en-US" altLang="ko-KR" b="1" dirty="0">
              <a:sym typeface="Wingdings" panose="05000000000000000000" pitchFamily="2" charset="2"/>
            </a:endParaRPr>
          </a:p>
          <a:p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ym typeface="Wingdings" panose="05000000000000000000" pitchFamily="2" charset="2"/>
              </a:rPr>
              <a:t>해석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=</a:t>
            </a:r>
            <a:r>
              <a:rPr lang="ko-KR" altLang="en-US" b="1" dirty="0">
                <a:sym typeface="Wingdings" panose="05000000000000000000" pitchFamily="2" charset="2"/>
              </a:rPr>
              <a:t>초반 형상 최적화가 빠르게 되며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항력 감소 효율이 가장 큼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  <a:p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ym typeface="Wingdings" panose="05000000000000000000" pitchFamily="2" charset="2"/>
              </a:rPr>
              <a:t>결론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= </a:t>
            </a:r>
            <a:r>
              <a:rPr lang="ko-KR" altLang="en-US" b="1" dirty="0">
                <a:sym typeface="Wingdings" panose="05000000000000000000" pitchFamily="2" charset="2"/>
              </a:rPr>
              <a:t>최적화 과정에서 </a:t>
            </a:r>
            <a:r>
              <a:rPr lang="en-US" altLang="ko-KR" b="1" dirty="0">
                <a:sym typeface="Wingdings" panose="05000000000000000000" pitchFamily="2" charset="2"/>
              </a:rPr>
              <a:t>CD</a:t>
            </a:r>
            <a:r>
              <a:rPr lang="ko-KR" altLang="en-US" b="1" dirty="0">
                <a:sym typeface="Wingdings" panose="05000000000000000000" pitchFamily="2" charset="2"/>
              </a:rPr>
              <a:t>가 약 </a:t>
            </a:r>
            <a:r>
              <a:rPr lang="en-US" altLang="ko-KR" b="1" dirty="0">
                <a:sym typeface="Wingdings" panose="05000000000000000000" pitchFamily="2" charset="2"/>
              </a:rPr>
              <a:t>90% </a:t>
            </a:r>
            <a:r>
              <a:rPr lang="ko-KR" altLang="en-US" b="1" dirty="0">
                <a:sym typeface="Wingdings" panose="05000000000000000000" pitchFamily="2" charset="2"/>
              </a:rPr>
              <a:t>감소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= </a:t>
            </a:r>
            <a:r>
              <a:rPr lang="ko-KR" altLang="en-US" b="1" dirty="0">
                <a:sym typeface="Wingdings" panose="05000000000000000000" pitchFamily="2" charset="2"/>
              </a:rPr>
              <a:t>초반 이후 반복은 수렴 상태이므로 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ko-KR" altLang="en-US" b="1" dirty="0" err="1">
                <a:sym typeface="Wingdings" panose="05000000000000000000" pitchFamily="2" charset="2"/>
              </a:rPr>
              <a:t>형상최적</a:t>
            </a:r>
            <a:r>
              <a:rPr lang="ko-KR" altLang="en-US" b="1" dirty="0">
                <a:sym typeface="Wingdings" panose="05000000000000000000" pitchFamily="2" charset="2"/>
              </a:rPr>
              <a:t> 형상으로 할 수 있음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361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03949-05C6-9B67-BB7F-FC051F68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</a:t>
            </a:r>
            <a:r>
              <a:rPr lang="ko-KR" altLang="en-US" dirty="0"/>
              <a:t> 결과 값 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B3365DD-7B11-C9EC-CD2C-593245363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271" y="2100253"/>
            <a:ext cx="4572033" cy="2647969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088803-9064-F2D9-8CD9-438615853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= CL</a:t>
            </a:r>
            <a:r>
              <a:rPr lang="ko-KR" altLang="en-US" b="1" dirty="0"/>
              <a:t>은 초반에 크게 증가했다가 </a:t>
            </a:r>
            <a:r>
              <a:rPr lang="en-US" altLang="ko-KR" b="1" dirty="0"/>
              <a:t>3</a:t>
            </a:r>
            <a:r>
              <a:rPr lang="ko-KR" altLang="en-US" b="1" dirty="0"/>
              <a:t>도에서 급감하며</a:t>
            </a:r>
            <a:r>
              <a:rPr lang="en-US" altLang="ko-KR" b="1" dirty="0"/>
              <a:t>, </a:t>
            </a:r>
            <a:r>
              <a:rPr lang="ko-KR" altLang="en-US" b="1" dirty="0"/>
              <a:t>이후 </a:t>
            </a:r>
            <a:r>
              <a:rPr lang="en-US" altLang="ko-KR" b="1" dirty="0"/>
              <a:t>5~10</a:t>
            </a:r>
            <a:r>
              <a:rPr lang="ko-KR" altLang="en-US" b="1" dirty="0"/>
              <a:t>도 구간에서 완만한 피크를 형성한 뒤 그 뒤로는 일정하게 유지되는 형태를 나타냄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1641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247</Words>
  <Application>Microsoft Office PowerPoint</Application>
  <PresentationFormat>와이드스크린</PresentationFormat>
  <Paragraphs>50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공력형상 최적설계  </vt:lpstr>
      <vt:lpstr>공력 성능 목적함수 설정 입력</vt:lpstr>
      <vt:lpstr>입력 값</vt:lpstr>
      <vt:lpstr>Design naca0012 Pressure 비교</vt:lpstr>
      <vt:lpstr>Design naca0012 Pressure 유동 비교</vt:lpstr>
      <vt:lpstr>Design naca0012 X/C, Cp값 비교</vt:lpstr>
      <vt:lpstr>결과 보고서</vt:lpstr>
      <vt:lpstr>CD 결과 값</vt:lpstr>
      <vt:lpstr>CL 결과 값 (추가)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dlqudgk9@gmail.com</dc:creator>
  <cp:lastModifiedBy>dlqudgk9@gmail.com</cp:lastModifiedBy>
  <cp:revision>7</cp:revision>
  <dcterms:created xsi:type="dcterms:W3CDTF">2025-11-18T11:15:54Z</dcterms:created>
  <dcterms:modified xsi:type="dcterms:W3CDTF">2025-12-03T11:54:21Z</dcterms:modified>
</cp:coreProperties>
</file>